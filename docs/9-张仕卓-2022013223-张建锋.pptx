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1" r:id="rId4"/>
    <p:sldId id="263" r:id="rId5"/>
    <p:sldId id="265" r:id="rId6"/>
    <p:sldId id="297" r:id="rId7"/>
    <p:sldId id="304" r:id="rId8"/>
    <p:sldId id="305" r:id="rId9"/>
    <p:sldId id="306" r:id="rId10"/>
    <p:sldId id="307" r:id="rId11"/>
    <p:sldId id="308" r:id="rId12"/>
    <p:sldId id="303" r:id="rId13"/>
    <p:sldId id="301" r:id="rId14"/>
    <p:sldId id="294" r:id="rId15"/>
    <p:sldId id="274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5A08"/>
    <a:srgbClr val="203864"/>
    <a:srgbClr val="012567"/>
    <a:srgbClr val="01399D"/>
    <a:srgbClr val="596B8B"/>
    <a:srgbClr val="F2F2F2"/>
    <a:srgbClr val="3867B4"/>
    <a:srgbClr val="5A739C"/>
    <a:srgbClr val="4D6185"/>
    <a:srgbClr val="104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06" autoAdjust="0"/>
    <p:restoredTop sz="85336" autoAdjust="0"/>
  </p:normalViewPr>
  <p:slideViewPr>
    <p:cSldViewPr snapToGrid="0" showGuides="1">
      <p:cViewPr varScale="1">
        <p:scale>
          <a:sx n="48" d="100"/>
          <a:sy n="48" d="100"/>
        </p:scale>
        <p:origin x="56" y="6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-44"/>
    </p:cViewPr>
  </p:sorterViewPr>
  <p:notesViewPr>
    <p:cSldViewPr snapToGrid="0">
      <p:cViewPr varScale="1">
        <p:scale>
          <a:sx n="70" d="100"/>
          <a:sy n="70" d="100"/>
        </p:scale>
        <p:origin x="350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A839289-A00A-DCAB-BA36-9EA78F5201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5CBF62-A41A-AF88-CFAB-46488B79A2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636A3-0DCA-4AA9-BB45-F0507A8FD480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4913F5-657F-B894-A095-B81AFEEC8C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C2B6B2-EB6E-0ACE-FC34-20217B704B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AAA1B-4B05-4ACE-B34B-499BB626B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924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33698-83B1-4EAE-8330-2A790511047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9553A-0524-4FB2-92D3-FC234C9034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各位老师好，我是计科</a:t>
            </a:r>
            <a:r>
              <a:rPr lang="en-US" altLang="zh-CN" sz="1600" dirty="0"/>
              <a:t>2201</a:t>
            </a:r>
            <a:r>
              <a:rPr lang="zh-CN" altLang="en-US" sz="1600" dirty="0"/>
              <a:t>班的张仕卓，我今天开题汇报的题目是</a:t>
            </a:r>
            <a:r>
              <a:rPr lang="en-US" altLang="zh-CN" sz="1600" dirty="0"/>
              <a:t>《</a:t>
            </a:r>
            <a:r>
              <a:rPr lang="zh-CN" altLang="en-US" sz="1600" dirty="0"/>
              <a:t>基于轻量化 </a:t>
            </a:r>
            <a:r>
              <a:rPr lang="en-US" altLang="zh-CN" sz="1600" dirty="0"/>
              <a:t>AI </a:t>
            </a:r>
            <a:r>
              <a:rPr lang="zh-CN" altLang="en-US" sz="1600" dirty="0"/>
              <a:t>算法的红外多目标检测与跟踪方法研究</a:t>
            </a:r>
            <a:r>
              <a:rPr lang="en-US" altLang="zh-CN" sz="1600" dirty="0"/>
              <a:t>》</a:t>
            </a:r>
            <a:r>
              <a:rPr lang="zh-CN" altLang="en-US" sz="1600" dirty="0"/>
              <a:t>，本课题由张建锋老师指导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本次汇报我将按照以下六个板块展开：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首先介绍选题背景，传统的可见光系统严重依赖光照，</a:t>
            </a:r>
            <a:r>
              <a:rPr lang="zh-CN" altLang="en-US" dirty="0"/>
              <a:t>在夜间或恶劣天气下性能会急剧下降，甚至失效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而红外图像技术不依赖光源，通过接受目标热辐射成像，具备穿透烟雾的能力。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但目前红外图像存在分辨率低，缺乏纹理、边缘模糊等缺点，传统算法容易误检，此外由于高性能模型参数大，难以直接部署在算力受限的嵌入式设备上，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因此，研究结合轻量化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算法、并基于低成本嵌入式设备的系统方案意义重大。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在国内外现状方面，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目标检测领域目前以 </a:t>
            </a:r>
            <a:r>
              <a:rPr lang="en-US" altLang="zh-CN" dirty="0"/>
              <a:t>YOLO </a:t>
            </a:r>
            <a:r>
              <a:rPr lang="zh-CN" altLang="en-US" dirty="0"/>
              <a:t>系列为主，研究热点集中在注意力机制引入和网络轻量化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多目标跟踪则普遍采用“检测后跟踪”框架，侧重运动预测和身份管理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嵌入式部署方面，国产 </a:t>
            </a:r>
            <a:r>
              <a:rPr lang="en-US" altLang="zh-CN" dirty="0"/>
              <a:t>RV1126 </a:t>
            </a:r>
            <a:r>
              <a:rPr lang="zh-CN" altLang="en-US" dirty="0"/>
              <a:t>芯片应用广泛，涉及模型剪枝、量化等关键技术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目前的主要不足在于，高精度模型难以在低功耗芯片上高效运行，且红外弱纹理常导致目标丢失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针对这些情况，</a:t>
            </a:r>
          </a:p>
          <a:p>
            <a:endParaRPr lang="en-US" altLang="zh-CN" dirty="0"/>
          </a:p>
          <a:p>
            <a:r>
              <a:rPr lang="zh-CN" altLang="en-US" dirty="0"/>
              <a:t>本研究的具体目标是分析 </a:t>
            </a:r>
            <a:r>
              <a:rPr lang="en-US" altLang="zh-CN" dirty="0"/>
              <a:t>YOLOv5 </a:t>
            </a:r>
            <a:r>
              <a:rPr lang="zh-CN" altLang="en-US" dirty="0"/>
              <a:t>在红外检测中的适用性并进行轻量化改进，实现行人、车辆的精准检测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同时，通过性能评估选择出最适合红外场景的跟踪方案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最后，我们计划在国产 </a:t>
            </a:r>
            <a:r>
              <a:rPr lang="en-US" altLang="zh-CN" dirty="0"/>
              <a:t>RV1126 </a:t>
            </a:r>
            <a:r>
              <a:rPr lang="zh-CN" altLang="en-US" dirty="0"/>
              <a:t>平台完成模型转换与 </a:t>
            </a:r>
            <a:r>
              <a:rPr lang="en-US" altLang="zh-CN" dirty="0"/>
              <a:t>C++ </a:t>
            </a:r>
            <a:r>
              <a:rPr lang="zh-CN" altLang="en-US" dirty="0"/>
              <a:t>推理开发，建立多维度的评价体系来验证系统是否满足实际应用需求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技术路线整体分为四个阶段，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即理论研究与数据准备、算法优化、系统部署和最终的运行测试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我们将从原理学习出发，通过控制变量法进行递进式优化，最终在嵌入式端实现实时视频流处理并完成消融实验验证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针对于我们的技术路线，设计出本研究的系统架构自上而下分为四层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数据输入层负责 </a:t>
            </a:r>
            <a:r>
              <a:rPr lang="en-US" altLang="zh-CN" dirty="0"/>
              <a:t>FLIR </a:t>
            </a:r>
            <a:r>
              <a:rPr lang="zh-CN" altLang="en-US" dirty="0"/>
              <a:t>数据集的预处理与实时视频采集；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算法层涵盖检测与跟踪核心模块；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部署层利用 </a:t>
            </a:r>
            <a:r>
              <a:rPr lang="en-US" altLang="zh-CN" dirty="0"/>
              <a:t>RV1126 </a:t>
            </a:r>
            <a:r>
              <a:rPr lang="zh-CN" altLang="en-US" dirty="0"/>
              <a:t>的 </a:t>
            </a:r>
            <a:r>
              <a:rPr lang="en-US" altLang="zh-CN" dirty="0"/>
              <a:t>NPU </a:t>
            </a:r>
            <a:r>
              <a:rPr lang="zh-CN" altLang="en-US" dirty="0"/>
              <a:t>实现高效推理；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性能评估层提供科学指标依据。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各层通过标准化接口协作，形成完整的处理链路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下面针对于核心模块做出一些介绍，首先是目标检测模块。针对</a:t>
            </a:r>
            <a:r>
              <a:rPr lang="en-US" altLang="zh-CN" dirty="0"/>
              <a:t>YOLOv5</a:t>
            </a:r>
            <a:r>
              <a:rPr lang="zh-CN" altLang="en-US" dirty="0"/>
              <a:t>原生架构</a:t>
            </a:r>
            <a:r>
              <a:rPr lang="en-US" altLang="zh-CN" dirty="0"/>
              <a:t>Backbone-Neck-Head</a:t>
            </a:r>
            <a:r>
              <a:rPr lang="zh-CN" altLang="en-US" dirty="0"/>
              <a:t>做出轻量化改进。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针对原生 </a:t>
            </a:r>
            <a:r>
              <a:rPr lang="en-US" altLang="zh-CN" dirty="0"/>
              <a:t>C3 </a:t>
            </a:r>
            <a:r>
              <a:rPr lang="zh-CN" altLang="en-US" dirty="0"/>
              <a:t>模块计算量大的问题，将对比替换为更高效的 </a:t>
            </a:r>
            <a:r>
              <a:rPr lang="en-US" altLang="zh-CN" dirty="0"/>
              <a:t>Ghost-C3 </a:t>
            </a:r>
            <a:r>
              <a:rPr lang="zh-CN" altLang="en-US" dirty="0"/>
              <a:t>或 </a:t>
            </a:r>
            <a:r>
              <a:rPr lang="en-US" altLang="zh-CN" dirty="0"/>
              <a:t>Shuffle-C3 </a:t>
            </a:r>
            <a:r>
              <a:rPr lang="zh-CN" altLang="en-US" dirty="0"/>
              <a:t>结构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同时，引入坐标注意力机制使网络聚焦热信号区域以抑制干扰，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并对比 </a:t>
            </a:r>
            <a:r>
              <a:rPr lang="en-US" altLang="zh-CN" dirty="0"/>
              <a:t>CIoU</a:t>
            </a:r>
            <a:r>
              <a:rPr lang="zh-CN" altLang="en-US" dirty="0"/>
              <a:t>、</a:t>
            </a:r>
            <a:r>
              <a:rPr lang="en-US" altLang="zh-CN" dirty="0"/>
              <a:t>EIoU </a:t>
            </a:r>
            <a:r>
              <a:rPr lang="zh-CN" altLang="en-US" dirty="0"/>
              <a:t>等损失函数来提升定位的准确性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跟踪模块采用“检测后跟踪”策略。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由于红外目标缺乏纹理，</a:t>
            </a:r>
            <a:r>
              <a:rPr lang="en-US" altLang="zh-CN" dirty="0"/>
              <a:t>DeepSORT </a:t>
            </a:r>
            <a:r>
              <a:rPr lang="zh-CN" altLang="en-US" dirty="0"/>
              <a:t>这种强依赖 </a:t>
            </a:r>
            <a:r>
              <a:rPr lang="en-US" altLang="zh-CN" dirty="0"/>
              <a:t>ReID </a:t>
            </a:r>
            <a:r>
              <a:rPr lang="zh-CN" altLang="en-US" dirty="0"/>
              <a:t>特征的算法极易导致身份切换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我们将采用控制变量法，定量比较 </a:t>
            </a:r>
            <a:r>
              <a:rPr lang="en-US" altLang="zh-CN" dirty="0"/>
              <a:t>DeepSORT</a:t>
            </a:r>
            <a:r>
              <a:rPr lang="zh-CN" altLang="en-US" dirty="0"/>
              <a:t>、</a:t>
            </a:r>
            <a:r>
              <a:rPr lang="en-US" altLang="zh-CN" dirty="0"/>
              <a:t>ByteTrack </a:t>
            </a:r>
            <a:r>
              <a:rPr lang="zh-CN" altLang="en-US" dirty="0"/>
              <a:t>和 </a:t>
            </a:r>
            <a:r>
              <a:rPr lang="en-US" altLang="zh-CN" dirty="0"/>
              <a:t>CenterTrack </a:t>
            </a:r>
            <a:r>
              <a:rPr lang="zh-CN" altLang="en-US" dirty="0"/>
              <a:t>在红外场景下的 </a:t>
            </a:r>
            <a:r>
              <a:rPr lang="en-US" altLang="zh-CN" dirty="0"/>
              <a:t>MOTA</a:t>
            </a:r>
            <a:r>
              <a:rPr lang="zh-CN" altLang="en-US" dirty="0"/>
              <a:t>、</a:t>
            </a:r>
            <a:r>
              <a:rPr lang="en-US" altLang="zh-CN" dirty="0"/>
              <a:t>IDSW </a:t>
            </a:r>
            <a:r>
              <a:rPr lang="zh-CN" altLang="en-US" dirty="0"/>
              <a:t>等指标，优选出最稳定的方案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嵌入式部署部分，核心工作是完成从 </a:t>
            </a:r>
            <a:r>
              <a:rPr lang="en-US" altLang="zh-CN" dirty="0"/>
              <a:t>PyTorch </a:t>
            </a:r>
            <a:r>
              <a:rPr lang="zh-CN" altLang="en-US" dirty="0"/>
              <a:t>到 </a:t>
            </a:r>
            <a:r>
              <a:rPr lang="en-US" altLang="zh-CN" dirty="0"/>
              <a:t>RKNN </a:t>
            </a:r>
            <a:r>
              <a:rPr lang="zh-CN" altLang="en-US" dirty="0"/>
              <a:t>的模型转换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我们将利用红外图像作为校准集进行 </a:t>
            </a:r>
            <a:r>
              <a:rPr lang="en-US" altLang="zh-CN" dirty="0"/>
              <a:t>INT8 </a:t>
            </a:r>
            <a:r>
              <a:rPr lang="zh-CN" altLang="en-US" dirty="0"/>
              <a:t>量化，在压缩模型体积的同时提升推理速度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最后使用 </a:t>
            </a:r>
            <a:r>
              <a:rPr lang="en-US" altLang="zh-CN" dirty="0"/>
              <a:t>C++ </a:t>
            </a:r>
            <a:r>
              <a:rPr lang="zh-CN" altLang="en-US" dirty="0"/>
              <a:t>调用 </a:t>
            </a:r>
            <a:r>
              <a:rPr lang="en-US" altLang="zh-CN" dirty="0"/>
              <a:t>RKNN API </a:t>
            </a:r>
            <a:r>
              <a:rPr lang="zh-CN" altLang="en-US" dirty="0"/>
              <a:t>开发推理程序，确保达到 </a:t>
            </a:r>
            <a:r>
              <a:rPr lang="en-US" altLang="zh-CN" dirty="0"/>
              <a:t>25 </a:t>
            </a:r>
            <a:r>
              <a:rPr lang="zh-CN" altLang="en-US" dirty="0"/>
              <a:t>帧以上的实时性要求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评估体系涵盖检测指标 </a:t>
            </a:r>
            <a:r>
              <a:rPr lang="en-US" altLang="zh-CN" dirty="0" err="1"/>
              <a:t>mAP</a:t>
            </a:r>
            <a:r>
              <a:rPr lang="zh-CN" altLang="en-US" dirty="0"/>
              <a:t>、跟踪指标 </a:t>
            </a:r>
            <a:r>
              <a:rPr lang="en-US" altLang="zh-CN" dirty="0"/>
              <a:t>MOTA </a:t>
            </a:r>
            <a:r>
              <a:rPr lang="zh-CN" altLang="en-US" dirty="0"/>
              <a:t>以及 </a:t>
            </a:r>
            <a:r>
              <a:rPr lang="en-US" altLang="zh-CN" dirty="0"/>
              <a:t>FPS </a:t>
            </a:r>
            <a:r>
              <a:rPr lang="zh-CN" altLang="en-US" dirty="0"/>
              <a:t>和延迟等系统指标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我们会以原始方案为基准开展消融实验，通过逐步累加改进模块，验证轻量化骨干、注意力机制等对整体性能的实际贡献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预期研究成果包括：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一套优化后的红外检测跟踪模型及其量化版本、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一套基于 </a:t>
            </a:r>
            <a:r>
              <a:rPr lang="en-US" altLang="zh-CN" dirty="0"/>
              <a:t>RV1126 </a:t>
            </a:r>
            <a:r>
              <a:rPr lang="zh-CN" altLang="en-US" dirty="0"/>
              <a:t>的嵌入式系统原型、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完整的工程代码及详细文档，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以及最终的高质量毕业论文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进度安排从 </a:t>
            </a:r>
            <a:r>
              <a:rPr lang="en-US" altLang="zh-CN" dirty="0"/>
              <a:t>2025 </a:t>
            </a:r>
            <a:r>
              <a:rPr lang="zh-CN" altLang="en-US" dirty="0"/>
              <a:t>年 </a:t>
            </a:r>
            <a:r>
              <a:rPr lang="en-US" altLang="zh-CN" dirty="0"/>
              <a:t>12 </a:t>
            </a:r>
            <a:r>
              <a:rPr lang="zh-CN" altLang="en-US" dirty="0"/>
              <a:t>月开始调研开题，历经算法设计、系统部署，计划在 </a:t>
            </a:r>
            <a:r>
              <a:rPr lang="en-US" altLang="zh-CN" dirty="0"/>
              <a:t>2026 </a:t>
            </a:r>
            <a:r>
              <a:rPr lang="zh-CN" altLang="en-US" dirty="0"/>
              <a:t>年 </a:t>
            </a:r>
            <a:r>
              <a:rPr lang="en-US" altLang="zh-CN" dirty="0"/>
              <a:t>5 </a:t>
            </a:r>
            <a:r>
              <a:rPr lang="zh-CN" altLang="en-US" dirty="0"/>
              <a:t>月底前完成答辩准备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虽然面临算法机制特性理解难度大、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首次接触 </a:t>
            </a:r>
            <a:r>
              <a:rPr lang="en-US" altLang="zh-CN" dirty="0"/>
              <a:t>RV1126 </a:t>
            </a:r>
            <a:r>
              <a:rPr lang="zh-CN" altLang="en-US" dirty="0"/>
              <a:t>部署压力以及性能平衡挑战 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但本研究针对红外场景的轻量化创新和在国产芯片上的部署实践，具有很强的技术创新价值和工程参考意义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以上就是我的开题汇报内容。敬请各位老师批评指正，谢谢大家 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9553A-0524-4FB2-92D3-FC234C903448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DB1E0-4D54-44BD-A95E-136D63A861C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C7248-8823-4589-83DF-6E95A0F9F6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1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 rot="21016335">
            <a:off x="9130620" y="-471998"/>
            <a:ext cx="6930506" cy="8106794"/>
            <a:chOff x="-1071508" y="-557203"/>
            <a:chExt cx="5134589" cy="6636248"/>
          </a:xfrm>
        </p:grpSpPr>
        <p:sp>
          <p:nvSpPr>
            <p:cNvPr id="21" name="矩形 20"/>
            <p:cNvSpPr/>
            <p:nvPr/>
          </p:nvSpPr>
          <p:spPr>
            <a:xfrm rot="3506993">
              <a:off x="-1264302" y="960673"/>
              <a:ext cx="5311166" cy="4925578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solidFill>
                <a:schemeClr val="accent1">
                  <a:shade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 rot="3506993">
              <a:off x="-1055291" y="-364409"/>
              <a:ext cx="5311166" cy="4925578"/>
            </a:xfrm>
            <a:prstGeom prst="rect">
              <a:avLst/>
            </a:prstGeom>
            <a:solidFill>
              <a:schemeClr val="accent1">
                <a:alpha val="33000"/>
              </a:schemeClr>
            </a:solidFill>
            <a:ln>
              <a:solidFill>
                <a:schemeClr val="accent1">
                  <a:shade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210740"/>
            <a:ext cx="11874103" cy="643651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70940" y="1487460"/>
            <a:ext cx="9850120" cy="303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4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基于轻量化</a:t>
            </a:r>
            <a:r>
              <a:rPr lang="en-US" altLang="zh-CN" sz="4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4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算法的红外多目标检测与跟踪方法研究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504213" y="4648215"/>
            <a:ext cx="7183574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姓名：张仕卓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2022013223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指导老师：张建锋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2026/1/9</a:t>
            </a:r>
          </a:p>
        </p:txBody>
      </p:sp>
      <p:sp>
        <p:nvSpPr>
          <p:cNvPr id="20" name="矩形 19"/>
          <p:cNvSpPr/>
          <p:nvPr/>
        </p:nvSpPr>
        <p:spPr>
          <a:xfrm>
            <a:off x="311348" y="363140"/>
            <a:ext cx="11874103" cy="643651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94" y="58340"/>
            <a:ext cx="3048006" cy="1560579"/>
          </a:xfrm>
          <a:prstGeom prst="rect">
            <a:avLst/>
          </a:prstGeom>
        </p:spPr>
      </p:pic>
      <p:sp>
        <p:nvSpPr>
          <p:cNvPr id="41" name="等腰三角形 40"/>
          <p:cNvSpPr/>
          <p:nvPr/>
        </p:nvSpPr>
        <p:spPr>
          <a:xfrm rot="20523091">
            <a:off x="-2373705" y="3006633"/>
            <a:ext cx="5065305" cy="5324822"/>
          </a:xfrm>
          <a:prstGeom prst="triangle">
            <a:avLst/>
          </a:prstGeom>
          <a:solidFill>
            <a:srgbClr val="203864"/>
          </a:solidFill>
          <a:effectLst>
            <a:outerShdw blurRad="127000" dist="38100" dir="7500000" sx="105000" sy="105000" algn="b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5174908" y="838629"/>
            <a:ext cx="377970" cy="405153"/>
          </a:xfrm>
          <a:prstGeom prst="rect">
            <a:avLst/>
          </a:prstGeom>
          <a:solidFill>
            <a:srgbClr val="203864">
              <a:alpha val="65000"/>
            </a:srgbClr>
          </a:solidFill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E7E6E6"/>
              </a:solidFill>
            </a:endParaRPr>
          </a:p>
        </p:txBody>
      </p:sp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5174908" y="1723072"/>
            <a:ext cx="377970" cy="405153"/>
          </a:xfrm>
          <a:prstGeom prst="rect">
            <a:avLst/>
          </a:prstGeom>
          <a:solidFill>
            <a:srgbClr val="203864">
              <a:alpha val="65000"/>
            </a:srgbClr>
          </a:solidFill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1" name="矩形 30"/>
          <p:cNvSpPr/>
          <p:nvPr>
            <p:custDataLst>
              <p:tags r:id="rId3"/>
            </p:custDataLst>
          </p:nvPr>
        </p:nvSpPr>
        <p:spPr>
          <a:xfrm>
            <a:off x="5174908" y="2607515"/>
            <a:ext cx="377970" cy="405153"/>
          </a:xfrm>
          <a:prstGeom prst="rect">
            <a:avLst/>
          </a:prstGeom>
          <a:solidFill>
            <a:srgbClr val="203864">
              <a:alpha val="65000"/>
            </a:srgbClr>
          </a:solidFill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5174908" y="3491958"/>
            <a:ext cx="377970" cy="405153"/>
          </a:xfrm>
          <a:prstGeom prst="rect">
            <a:avLst/>
          </a:prstGeom>
          <a:solidFill>
            <a:srgbClr val="203864">
              <a:alpha val="65000"/>
            </a:srgbClr>
          </a:solidFill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矩形 8"/>
          <p:cNvSpPr/>
          <p:nvPr/>
        </p:nvSpPr>
        <p:spPr>
          <a:xfrm>
            <a:off x="158948" y="210740"/>
            <a:ext cx="11874103" cy="643651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5553125" y="798508"/>
            <a:ext cx="354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选题背景与意义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5552878" y="1689591"/>
            <a:ext cx="3297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国内外研究现状</a:t>
            </a: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5552878" y="2580674"/>
            <a:ext cx="4316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</a:rPr>
              <a:t>3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研究目标与内容</a:t>
            </a: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5552877" y="3415238"/>
            <a:ext cx="4244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</a:rPr>
              <a:t>4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技术路线与研究方法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44419" y="1907224"/>
            <a:ext cx="1292662" cy="26931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72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94" y="58340"/>
            <a:ext cx="3048006" cy="1560579"/>
          </a:xfrm>
          <a:prstGeom prst="rect">
            <a:avLst/>
          </a:prstGeom>
        </p:spPr>
      </p:pic>
      <p:sp>
        <p:nvSpPr>
          <p:cNvPr id="24" name="矩形 23"/>
          <p:cNvSpPr/>
          <p:nvPr>
            <p:custDataLst>
              <p:tags r:id="rId9"/>
            </p:custDataLst>
          </p:nvPr>
        </p:nvSpPr>
        <p:spPr>
          <a:xfrm>
            <a:off x="5174908" y="4376401"/>
            <a:ext cx="377970" cy="405153"/>
          </a:xfrm>
          <a:prstGeom prst="rect">
            <a:avLst/>
          </a:prstGeom>
          <a:solidFill>
            <a:srgbClr val="203864">
              <a:alpha val="65000"/>
            </a:srgbClr>
          </a:solidFill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/>
          <p:cNvSpPr/>
          <p:nvPr>
            <p:custDataLst>
              <p:tags r:id="rId10"/>
            </p:custDataLst>
          </p:nvPr>
        </p:nvSpPr>
        <p:spPr>
          <a:xfrm>
            <a:off x="5174908" y="5260842"/>
            <a:ext cx="377970" cy="405153"/>
          </a:xfrm>
          <a:prstGeom prst="rect">
            <a:avLst/>
          </a:prstGeom>
          <a:solidFill>
            <a:srgbClr val="203864">
              <a:alpha val="65000"/>
            </a:srgbClr>
          </a:solidFill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5552878" y="4362840"/>
            <a:ext cx="4316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  <a:sym typeface="+mn-ea"/>
              </a:rPr>
              <a:t>5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预期结果与进度安排</a:t>
            </a: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5552879" y="5261952"/>
            <a:ext cx="4316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</a:rPr>
              <a:t>6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存在困难与创新价值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15" name="平行四边形 1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4" name="平行四边形 3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平行四边形 4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51598" y="1"/>
            <a:ext cx="4972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选题背景与意义</a:t>
            </a:r>
          </a:p>
        </p:txBody>
      </p:sp>
      <p:pic>
        <p:nvPicPr>
          <p:cNvPr id="12" name="图片 11" descr="汽车行驶在马路上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68" y="970135"/>
            <a:ext cx="3221741" cy="1994411"/>
          </a:xfrm>
          <a:prstGeom prst="rect">
            <a:avLst/>
          </a:prstGeom>
        </p:spPr>
      </p:pic>
      <p:pic>
        <p:nvPicPr>
          <p:cNvPr id="19" name="图片 18" descr="夜晚街道上有一辆车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68" y="3031147"/>
            <a:ext cx="3221741" cy="196486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3963293" y="875009"/>
            <a:ext cx="6911066" cy="1704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严重依赖光照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在夜间、雾霾、雨雪等恶劣天气下算法性能急剧下降，甚至失效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002329" y="2795080"/>
            <a:ext cx="7874124" cy="2242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可接收目标热辐射，不依赖光源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分辨率低、缺乏纹理细节、目标边缘模糊，传统算法易漏检误检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高性能模型参数大，难以部署到嵌入式设备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102938" y="5104539"/>
            <a:ext cx="9917988" cy="1344387"/>
          </a:xfrm>
          <a:prstGeom prst="rect">
            <a:avLst/>
          </a:prstGeom>
          <a:noFill/>
          <a:ln w="28575">
            <a:solidFill>
              <a:srgbClr val="596B8B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选题意义：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在自动驾驶、智慧安防、智能交通等关键领域，结合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轻量化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、并基于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低成本嵌入式设备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的红外图像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检测和跟踪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方案有利于大规模应用。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5" name="平行四边形 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51598" y="0"/>
            <a:ext cx="5065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39" name="平行四边形 38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平行四边形 39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平行四边形 40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椭圆 1"/>
          <p:cNvSpPr/>
          <p:nvPr/>
        </p:nvSpPr>
        <p:spPr>
          <a:xfrm>
            <a:off x="4712564" y="3466148"/>
            <a:ext cx="984885" cy="984885"/>
          </a:xfrm>
          <a:prstGeom prst="ellipse">
            <a:avLst/>
          </a:prstGeom>
          <a:solidFill>
            <a:srgbClr val="214E7A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42"/>
          <p:cNvSpPr txBox="1"/>
          <p:nvPr/>
        </p:nvSpPr>
        <p:spPr>
          <a:xfrm>
            <a:off x="316082" y="775226"/>
            <a:ext cx="36842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buClr>
                <a:srgbClr val="903749"/>
              </a:buClr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目标检测领域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43"/>
          <p:cNvSpPr txBox="1"/>
          <p:nvPr/>
        </p:nvSpPr>
        <p:spPr>
          <a:xfrm>
            <a:off x="283142" y="1460748"/>
            <a:ext cx="5414307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系列算法为主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主要改进方向：引入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注意力机制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、改进特征金字塔、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轻量化网络设计</a:t>
            </a:r>
            <a:endParaRPr lang="en-US" altLang="zh-CN" sz="2400" dirty="0">
              <a:solidFill>
                <a:srgbClr val="AC5A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17310" y="3348466"/>
            <a:ext cx="732790" cy="72000"/>
          </a:xfrm>
          <a:prstGeom prst="rect">
            <a:avLst/>
          </a:prstGeom>
          <a:solidFill>
            <a:srgbClr val="214E7A"/>
          </a:solidFill>
          <a:ln>
            <a:noFill/>
          </a:ln>
          <a:effectLst>
            <a:outerShdw blurRad="190500" dist="190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46"/>
          <p:cNvSpPr txBox="1"/>
          <p:nvPr/>
        </p:nvSpPr>
        <p:spPr>
          <a:xfrm>
            <a:off x="283142" y="3495739"/>
            <a:ext cx="36842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buClr>
                <a:srgbClr val="903749"/>
              </a:buClr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嵌入式部署领域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47"/>
          <p:cNvSpPr txBox="1"/>
          <p:nvPr/>
        </p:nvSpPr>
        <p:spPr>
          <a:xfrm>
            <a:off x="337222" y="4213014"/>
            <a:ext cx="5860358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国产芯片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RV1126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等广泛应用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关键技术：模型剪枝、知识蒸馏、</a:t>
            </a:r>
            <a:r>
              <a:rPr lang="en-US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INT8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、轻量化设计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46486" y="6163538"/>
            <a:ext cx="732790" cy="72000"/>
          </a:xfrm>
          <a:prstGeom prst="rect">
            <a:avLst/>
          </a:prstGeom>
          <a:solidFill>
            <a:srgbClr val="214E7A"/>
          </a:solidFill>
          <a:ln>
            <a:noFill/>
          </a:ln>
          <a:effectLst>
            <a:outerShdw blurRad="190500" dist="190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49"/>
          <p:cNvSpPr txBox="1"/>
          <p:nvPr/>
        </p:nvSpPr>
        <p:spPr>
          <a:xfrm>
            <a:off x="6246575" y="773647"/>
            <a:ext cx="36842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903749"/>
              </a:buClr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多目标跟踪领域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50"/>
          <p:cNvSpPr txBox="1"/>
          <p:nvPr/>
        </p:nvSpPr>
        <p:spPr>
          <a:xfrm>
            <a:off x="6271755" y="1460748"/>
            <a:ext cx="5519192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主流采用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研究重点：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运动预测优化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、多信息融合、身份管理机制</a:t>
            </a:r>
          </a:p>
        </p:txBody>
      </p:sp>
      <p:sp>
        <p:nvSpPr>
          <p:cNvPr id="19" name="矩形 18"/>
          <p:cNvSpPr/>
          <p:nvPr/>
        </p:nvSpPr>
        <p:spPr>
          <a:xfrm>
            <a:off x="10826308" y="3474394"/>
            <a:ext cx="732790" cy="72000"/>
          </a:xfrm>
          <a:prstGeom prst="rect">
            <a:avLst/>
          </a:prstGeom>
          <a:solidFill>
            <a:srgbClr val="214E7A"/>
          </a:solidFill>
          <a:ln>
            <a:noFill/>
          </a:ln>
          <a:effectLst>
            <a:outerShdw blurRad="190500" dist="190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54"/>
          <p:cNvSpPr txBox="1"/>
          <p:nvPr/>
        </p:nvSpPr>
        <p:spPr>
          <a:xfrm>
            <a:off x="6271755" y="3500960"/>
            <a:ext cx="36842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buClr>
                <a:srgbClr val="903749"/>
              </a:buClr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现有研究的不足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55"/>
          <p:cNvSpPr txBox="1"/>
          <p:nvPr/>
        </p:nvSpPr>
        <p:spPr>
          <a:xfrm>
            <a:off x="6288540" y="4189081"/>
            <a:ext cx="5587378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高精度模型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参数量大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，难以在低功耗芯片上高效运行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传统跟踪算法在红外弱纹理条件下易发生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目标丢失</a:t>
            </a:r>
          </a:p>
        </p:txBody>
      </p:sp>
      <p:sp>
        <p:nvSpPr>
          <p:cNvPr id="22" name="矩形 21"/>
          <p:cNvSpPr/>
          <p:nvPr/>
        </p:nvSpPr>
        <p:spPr>
          <a:xfrm>
            <a:off x="10826308" y="6174856"/>
            <a:ext cx="732790" cy="72000"/>
          </a:xfrm>
          <a:prstGeom prst="rect">
            <a:avLst/>
          </a:prstGeom>
          <a:solidFill>
            <a:srgbClr val="214E7A"/>
          </a:solidFill>
          <a:ln>
            <a:noFill/>
          </a:ln>
          <a:effectLst>
            <a:outerShdw blurRad="190500" dist="190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271755" y="2795588"/>
            <a:ext cx="670560" cy="670560"/>
          </a:xfrm>
          <a:prstGeom prst="ellipse">
            <a:avLst/>
          </a:prstGeom>
          <a:solidFill>
            <a:srgbClr val="214E7A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同心圆 23"/>
          <p:cNvSpPr/>
          <p:nvPr/>
        </p:nvSpPr>
        <p:spPr>
          <a:xfrm>
            <a:off x="4453706" y="1715013"/>
            <a:ext cx="1976120" cy="1976120"/>
          </a:xfrm>
          <a:prstGeom prst="donut">
            <a:avLst>
              <a:gd name="adj" fmla="val 22907"/>
            </a:avLst>
          </a:prstGeom>
          <a:solidFill>
            <a:srgbClr val="214E7A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6112790" y="3769009"/>
            <a:ext cx="5710920" cy="27439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266521" y="3778814"/>
            <a:ext cx="5710920" cy="27439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125931" y="896183"/>
            <a:ext cx="5710920" cy="27439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66521" y="905988"/>
            <a:ext cx="5710920" cy="27439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1"/>
            <a:ext cx="5156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93" name="矩形 92"/>
          <p:cNvSpPr/>
          <p:nvPr/>
        </p:nvSpPr>
        <p:spPr bwMode="auto">
          <a:xfrm>
            <a:off x="0" y="933969"/>
            <a:ext cx="3999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YOLO</a:t>
            </a: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算法轻量化研究</a:t>
            </a:r>
          </a:p>
        </p:txBody>
      </p:sp>
      <p:sp>
        <p:nvSpPr>
          <p:cNvPr id="94" name="矩形 93"/>
          <p:cNvSpPr/>
          <p:nvPr/>
        </p:nvSpPr>
        <p:spPr>
          <a:xfrm>
            <a:off x="280733" y="1278899"/>
            <a:ext cx="5676182" cy="22430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YOLOv5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在红外目标检测中的适用性，并做出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轻量化改进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，实现红外视频中行人、车辆等目标精准检测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72336" y="912364"/>
            <a:ext cx="37593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）多目标跟踪方法研究</a:t>
            </a:r>
          </a:p>
        </p:txBody>
      </p:sp>
      <p:sp>
        <p:nvSpPr>
          <p:cNvPr id="96" name="矩形 95"/>
          <p:cNvSpPr/>
          <p:nvPr/>
        </p:nvSpPr>
        <p:spPr>
          <a:xfrm>
            <a:off x="6116761" y="1274243"/>
            <a:ext cx="5694994" cy="16890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跟踪算法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原理与适用性，并分析各算法在红外场景下性能，选择适合红外场景的跟踪方案</a:t>
            </a:r>
          </a:p>
        </p:txBody>
      </p:sp>
      <p:sp>
        <p:nvSpPr>
          <p:cNvPr id="97" name="矩形 96"/>
          <p:cNvSpPr/>
          <p:nvPr/>
        </p:nvSpPr>
        <p:spPr bwMode="auto">
          <a:xfrm>
            <a:off x="34215" y="3790614"/>
            <a:ext cx="31438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）嵌入式系统实现</a:t>
            </a:r>
          </a:p>
        </p:txBody>
      </p:sp>
      <p:sp>
        <p:nvSpPr>
          <p:cNvPr id="98" name="矩形 97"/>
          <p:cNvSpPr/>
          <p:nvPr/>
        </p:nvSpPr>
        <p:spPr>
          <a:xfrm>
            <a:off x="248792" y="4254175"/>
            <a:ext cx="5830420" cy="16890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部署到</a:t>
            </a:r>
            <a:r>
              <a:rPr lang="en-US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RV1126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开发板上，并通过模型格式转换、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程序开发等实现高效推理</a:t>
            </a:r>
          </a:p>
        </p:txBody>
      </p:sp>
      <p:sp>
        <p:nvSpPr>
          <p:cNvPr id="99" name="矩形 98"/>
          <p:cNvSpPr/>
          <p:nvPr/>
        </p:nvSpPr>
        <p:spPr bwMode="auto">
          <a:xfrm>
            <a:off x="5891123" y="3803072"/>
            <a:ext cx="3235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）系统运行与测试</a:t>
            </a:r>
          </a:p>
        </p:txBody>
      </p:sp>
      <p:sp>
        <p:nvSpPr>
          <p:cNvPr id="100" name="矩形 99"/>
          <p:cNvSpPr/>
          <p:nvPr/>
        </p:nvSpPr>
        <p:spPr>
          <a:xfrm>
            <a:off x="6304342" y="4251232"/>
            <a:ext cx="5267999" cy="16890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检测、跟踪、系统性能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多维度测试评价体系，并验证系统是否满足实际应用需求</a:t>
            </a:r>
          </a:p>
        </p:txBody>
      </p:sp>
      <p:sp>
        <p:nvSpPr>
          <p:cNvPr id="7" name="椭圆 6"/>
          <p:cNvSpPr/>
          <p:nvPr/>
        </p:nvSpPr>
        <p:spPr>
          <a:xfrm>
            <a:off x="5881975" y="3544284"/>
            <a:ext cx="308008" cy="323057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0" grpId="0" animBg="1"/>
      <p:bldP spid="17" grpId="0" animBg="1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46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27" y="1125684"/>
            <a:ext cx="11367144" cy="437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483742" y="5591007"/>
            <a:ext cx="11224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本研究的技术路线分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理论研究与数据准备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检测与跟踪算法优化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嵌入式系统部署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系统运行与测试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四部分进行。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46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pic>
        <p:nvPicPr>
          <p:cNvPr id="4" name="图片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1"/>
          <a:stretch>
            <a:fillRect/>
          </a:stretch>
        </p:blipFill>
        <p:spPr bwMode="auto">
          <a:xfrm>
            <a:off x="3330776" y="574746"/>
            <a:ext cx="8393828" cy="5863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42558" y="1164178"/>
            <a:ext cx="29882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整个系统架构自上而下分为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数据输入层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算法处理层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嵌入式部署层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性能评估层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共四个层次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各层之间通过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标准化接口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实现数据流转，形成从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原始红外图像输入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zh-CN" sz="2400" dirty="0">
                <a:solidFill>
                  <a:srgbClr val="AC5A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最终跟踪结果输出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的完整处理链路。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46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目标检测模块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5289" y="743110"/>
            <a:ext cx="49827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）轻量化骨干网络（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Backbone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5289" y="3108933"/>
            <a:ext cx="5866697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模块参数多，计算量大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→对比替换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模块为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Ghost-C3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Shuffle-C3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等更轻量化结构</a:t>
            </a:r>
          </a:p>
        </p:txBody>
      </p:sp>
      <p:pic>
        <p:nvPicPr>
          <p:cNvPr id="28" name="图片 27" descr="图示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114" y="1284230"/>
            <a:ext cx="2663926" cy="1882071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5791077" y="735133"/>
            <a:ext cx="6136131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）引入注意力机制（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Neck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红外背景噪声多，小目标特征微弱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坐标注意力机制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，使网络聚焦于目标的热信号区域，抑制背景干扰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794276" y="3789731"/>
            <a:ext cx="5773579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）损失函数优化（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针对目标边缘模糊的问题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→对比评估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CIoU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SIoU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EIoU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等更先进的损失函数，提升边界框回归的准确性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 descr="电视画面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46810"/>
            <a:ext cx="1819529" cy="83831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61280" y="6096887"/>
            <a:ext cx="8835992" cy="460507"/>
          </a:xfrm>
          <a:prstGeom prst="rect">
            <a:avLst/>
          </a:prstGeom>
          <a:noFill/>
          <a:ln w="28575">
            <a:solidFill>
              <a:srgbClr val="596B8B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YOLOv5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原生架构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Backbone-Neck-Head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做出轻量化改进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37" grpId="0"/>
      <p:bldP spid="41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5476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多目标跟踪模块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513593" y="2164289"/>
          <a:ext cx="9164814" cy="2745906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938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297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b="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算法方案</a:t>
                      </a:r>
                    </a:p>
                  </a:txBody>
                  <a:tcPr marL="45720" marR="4572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b="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核心机制</a:t>
                      </a:r>
                    </a:p>
                  </a:txBody>
                  <a:tcPr marL="45720" marR="4572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b="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优点</a:t>
                      </a:r>
                    </a:p>
                  </a:txBody>
                  <a:tcPr marL="45720" marR="4572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062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2200" b="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DeepSORT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卡尔曼滤波 </a:t>
                      </a:r>
                      <a:r>
                        <a:rPr lang="en-US" altLang="zh-CN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22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深度外观特征 </a:t>
                      </a:r>
                      <a:r>
                        <a:rPr lang="en-US" altLang="zh-CN" sz="22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(ReID)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经典基准，应用广泛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062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2200" b="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ByteTrack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卡尔曼滤波 </a:t>
                      </a:r>
                      <a:r>
                        <a:rPr lang="en-US" altLang="zh-CN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22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高低分检测框关联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不依赖外观特征</a:t>
                      </a:r>
                      <a:r>
                        <a:rPr lang="zh-CN" altLang="en-US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，能找回被遮挡目标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062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2200" b="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CenterTrack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基于中心点的检测与时序偏移预测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zh-CN" altLang="en-US" sz="2200" dirty="0">
                          <a:solidFill>
                            <a:srgbClr val="1F1F1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结构简单，端到端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35002" y="881828"/>
            <a:ext cx="11447428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该模块采用“检测后跟踪”的方式，由于红外目标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缺乏外观纹理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，传统基于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的跟踪算法（如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DeepSORT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）可能因特征不可区分而导致身份切换（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 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17" name="矩形 16"/>
          <p:cNvSpPr/>
          <p:nvPr/>
        </p:nvSpPr>
        <p:spPr>
          <a:xfrm>
            <a:off x="879107" y="5247592"/>
            <a:ext cx="10623081" cy="1135054"/>
          </a:xfrm>
          <a:prstGeom prst="rect">
            <a:avLst/>
          </a:prstGeom>
          <a:noFill/>
          <a:ln w="28575">
            <a:solidFill>
              <a:srgbClr val="596B8B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控制变量法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，在目标检测模型的基础上，通过定量比较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IDF1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IDSW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等关键指标，选择出最适合本项目的跟踪方案。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5476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嵌入式部署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7897" y="1158928"/>
            <a:ext cx="11940402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端训练好的模型部署到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RV1126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开发板上，需要完成如下操作：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）模型转换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PyTorch(.pt)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 →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ONNX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 →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RV1126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RKNN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(.rknn)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使用部分红外图像作为校准数据集，将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浮点模型转为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整数模型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程序编写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构建嵌入式程序，实现图像预处理、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模型推理、检测与跟踪等完整流程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5476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系统运行与测试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8287" y="917397"/>
            <a:ext cx="82601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评估体系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检测指标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mAP@0.5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Recall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跟踪指标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IDF1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IDSW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系统指标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，端到端延迟，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8287" y="3230806"/>
            <a:ext cx="10339370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消融实验验证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，以原始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YOLOv5+DeepSORT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为基准，逐步累加下列各改进模块，确保技术路线的有效性。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轻量化骨干网络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注意力机制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损失函数优化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686" y="0"/>
            <a:ext cx="46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预期结果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06685" y="1029903"/>
            <a:ext cx="108452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）一套算法模型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训练完成的多目标检测跟踪模型及适配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RV1126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RKNN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量化模型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）一套嵌入式系统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RV1126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的红外多目标检测与跟踪系统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）一份完整的工程代码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完整的工程代码及说明文档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）一篇高质量的毕业论文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系统阐述本研究的理论、方法、实验过程与结论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8804727" y="1749989"/>
            <a:ext cx="220821" cy="2584481"/>
            <a:chOff x="5119382" y="4655048"/>
            <a:chExt cx="220821" cy="26517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5229793" y="4908884"/>
              <a:ext cx="0" cy="2397864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8" name="流程图: 决策 57"/>
            <p:cNvSpPr/>
            <p:nvPr/>
          </p:nvSpPr>
          <p:spPr>
            <a:xfrm>
              <a:off x="5119382" y="4655048"/>
              <a:ext cx="220821" cy="232028"/>
            </a:xfrm>
            <a:prstGeom prst="flowChartDecisi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694947" y="1770405"/>
            <a:ext cx="220821" cy="1014232"/>
            <a:chOff x="5119382" y="4655048"/>
            <a:chExt cx="220821" cy="1014232"/>
          </a:xfrm>
        </p:grpSpPr>
        <p:cxnSp>
          <p:nvCxnSpPr>
            <p:cNvPr id="44" name="直接连接符 43"/>
            <p:cNvCxnSpPr/>
            <p:nvPr/>
          </p:nvCxnSpPr>
          <p:spPr>
            <a:xfrm>
              <a:off x="5229793" y="4908884"/>
              <a:ext cx="0" cy="760396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5" name="流程图: 决策 44"/>
            <p:cNvSpPr/>
            <p:nvPr/>
          </p:nvSpPr>
          <p:spPr>
            <a:xfrm>
              <a:off x="5119382" y="4655048"/>
              <a:ext cx="220821" cy="232028"/>
            </a:xfrm>
            <a:prstGeom prst="flowChartDecisi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0"/>
            <a:ext cx="46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进度安排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320040" y="2407665"/>
            <a:ext cx="116403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912370" y="2056030"/>
            <a:ext cx="846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232258" y="2471957"/>
          <a:ext cx="4293118" cy="4016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29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9400">
                <a:tc>
                  <a:txBody>
                    <a:bodyPr/>
                    <a:lstStyle/>
                    <a:p>
                      <a:pPr indent="0"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）课题调研与开题报告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400">
                <a:tc>
                  <a:txBody>
                    <a:bodyPr/>
                    <a:lstStyle/>
                    <a:p>
                      <a:pPr indent="0"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红外图像特点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YOLO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算法研究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400">
                <a:tc>
                  <a:txBody>
                    <a:bodyPr/>
                    <a:lstStyle/>
                    <a:p>
                      <a:pPr indent="0"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多目标检测与跟踪方法设计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400">
                <a:tc>
                  <a:txBody>
                    <a:bodyPr/>
                    <a:lstStyle/>
                    <a:p>
                      <a:pPr indent="0"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RV1126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系统实现与部署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400">
                <a:tc>
                  <a:txBody>
                    <a:bodyPr/>
                    <a:lstStyle/>
                    <a:p>
                      <a:pPr indent="0"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系统运行与测试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400">
                <a:tc>
                  <a:txBody>
                    <a:bodyPr/>
                    <a:lstStyle/>
                    <a:p>
                      <a:pPr indent="0"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）毕业论文撰写与答辩准备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3900216" y="2596752"/>
            <a:ext cx="1894192" cy="319108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5794407" y="3268792"/>
            <a:ext cx="1968887" cy="319108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7763294" y="4015362"/>
            <a:ext cx="1152143" cy="319108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8915436" y="4634023"/>
            <a:ext cx="1258467" cy="320983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10184169" y="5258567"/>
            <a:ext cx="655260" cy="276856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10839429" y="5842537"/>
            <a:ext cx="926839" cy="31970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4" name="组合 63"/>
          <p:cNvGrpSpPr/>
          <p:nvPr/>
        </p:nvGrpSpPr>
        <p:grpSpPr>
          <a:xfrm>
            <a:off x="10070583" y="1770405"/>
            <a:ext cx="220821" cy="3126549"/>
            <a:chOff x="5119382" y="4655048"/>
            <a:chExt cx="220821" cy="3126549"/>
          </a:xfrm>
        </p:grpSpPr>
        <p:cxnSp>
          <p:nvCxnSpPr>
            <p:cNvPr id="65" name="直接连接符 64"/>
            <p:cNvCxnSpPr/>
            <p:nvPr/>
          </p:nvCxnSpPr>
          <p:spPr>
            <a:xfrm>
              <a:off x="5229793" y="4908884"/>
              <a:ext cx="0" cy="2872713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6" name="流程图: 决策 65"/>
            <p:cNvSpPr/>
            <p:nvPr/>
          </p:nvSpPr>
          <p:spPr>
            <a:xfrm>
              <a:off x="5119382" y="4655048"/>
              <a:ext cx="220821" cy="232028"/>
            </a:xfrm>
            <a:prstGeom prst="flowChartDecisi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1645591" y="1787916"/>
            <a:ext cx="220821" cy="4214475"/>
            <a:chOff x="5119382" y="4655048"/>
            <a:chExt cx="220821" cy="4214475"/>
          </a:xfrm>
        </p:grpSpPr>
        <p:cxnSp>
          <p:nvCxnSpPr>
            <p:cNvPr id="69" name="直接连接符 68"/>
            <p:cNvCxnSpPr>
              <a:stCxn id="70" idx="2"/>
              <a:endCxn id="42" idx="3"/>
            </p:cNvCxnSpPr>
            <p:nvPr/>
          </p:nvCxnSpPr>
          <p:spPr>
            <a:xfrm>
              <a:off x="5229793" y="4887076"/>
              <a:ext cx="10266" cy="3982447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0" name="流程图: 决策 69"/>
            <p:cNvSpPr/>
            <p:nvPr/>
          </p:nvSpPr>
          <p:spPr>
            <a:xfrm>
              <a:off x="5119382" y="4655048"/>
              <a:ext cx="220821" cy="232028"/>
            </a:xfrm>
            <a:prstGeom prst="flowChartDecisi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5219086" y="1015009"/>
            <a:ext cx="7262630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2026.1.15                                   2026.3.10       2026.4.15       2026.5.20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开题答辩                                  算法实现完成   系统部署完成     论文提交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 animBg="1"/>
      <p:bldP spid="33" grpId="0" animBg="1"/>
      <p:bldP spid="36" grpId="0" animBg="1"/>
      <p:bldP spid="38" grpId="0" animBg="1"/>
      <p:bldP spid="41" grpId="0" animBg="1"/>
      <p:bldP spid="42" grpId="0" animBg="1"/>
      <p:bldP spid="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-5580752" y="-133865"/>
            <a:ext cx="12179671" cy="917397"/>
            <a:chOff x="-2948940" y="311161"/>
            <a:chExt cx="9886950" cy="955465"/>
          </a:xfrm>
        </p:grpSpPr>
        <p:sp>
          <p:nvSpPr>
            <p:cNvPr id="30" name="平行四边形 29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58948" y="783531"/>
            <a:ext cx="11874103" cy="586372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5036819" y="6581852"/>
            <a:ext cx="10664190" cy="553402"/>
            <a:chOff x="-2948940" y="311161"/>
            <a:chExt cx="9886950" cy="955465"/>
          </a:xfrm>
        </p:grpSpPr>
        <p:sp>
          <p:nvSpPr>
            <p:cNvPr id="25" name="平行四边形 24"/>
            <p:cNvSpPr/>
            <p:nvPr/>
          </p:nvSpPr>
          <p:spPr>
            <a:xfrm>
              <a:off x="-2948940" y="311161"/>
              <a:ext cx="8846820" cy="955465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-2297430" y="311161"/>
              <a:ext cx="8732519" cy="955465"/>
            </a:xfrm>
            <a:prstGeom prst="parallelogram">
              <a:avLst/>
            </a:prstGeom>
            <a:solidFill>
              <a:schemeClr val="accent1">
                <a:lumMod val="5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-1497330" y="311161"/>
              <a:ext cx="8435340" cy="955465"/>
            </a:xfrm>
            <a:prstGeom prst="parallelogram">
              <a:avLst/>
            </a:prstGeom>
            <a:solidFill>
              <a:schemeClr val="accent1">
                <a:lumMod val="50000"/>
                <a:alpha val="5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5" y="-367162"/>
            <a:ext cx="3048006" cy="156057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598" y="1"/>
            <a:ext cx="5995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</a:t>
            </a:r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存在困难与创新价值</a:t>
            </a:r>
          </a:p>
        </p:txBody>
      </p:sp>
      <p:sp>
        <p:nvSpPr>
          <p:cNvPr id="2" name="矩形 1"/>
          <p:cNvSpPr/>
          <p:nvPr/>
        </p:nvSpPr>
        <p:spPr>
          <a:xfrm rot="16200000">
            <a:off x="387513" y="1070356"/>
            <a:ext cx="387587" cy="114300"/>
          </a:xfrm>
          <a:prstGeom prst="rect">
            <a:avLst/>
          </a:prstGeom>
          <a:solidFill>
            <a:srgbClr val="214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框 25"/>
          <p:cNvSpPr txBox="1"/>
          <p:nvPr/>
        </p:nvSpPr>
        <p:spPr>
          <a:xfrm>
            <a:off x="804509" y="821872"/>
            <a:ext cx="239141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存在困难</a:t>
            </a:r>
            <a:endParaRPr lang="en-US" altLang="zh-CN" sz="2400" b="1" spc="3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 rot="16200000">
            <a:off x="6163309" y="1061659"/>
            <a:ext cx="424815" cy="114300"/>
          </a:xfrm>
          <a:prstGeom prst="rect">
            <a:avLst/>
          </a:prstGeom>
          <a:solidFill>
            <a:srgbClr val="214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6" name="文本框 31"/>
          <p:cNvSpPr txBox="1"/>
          <p:nvPr/>
        </p:nvSpPr>
        <p:spPr>
          <a:xfrm>
            <a:off x="6598919" y="831789"/>
            <a:ext cx="170245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创新价值</a:t>
            </a:r>
            <a:endParaRPr lang="en-US" altLang="zh-CN" sz="2400" b="1" spc="3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36"/>
          <p:cNvSpPr txBox="1"/>
          <p:nvPr/>
        </p:nvSpPr>
        <p:spPr>
          <a:xfrm>
            <a:off x="406458" y="1379191"/>
            <a:ext cx="5689542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算法理论与实现：红外图像特性理解、多种算法核心机制学习、轻量化技术实践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实验设计：多方案测试工作量大，参数调优复杂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嵌入式部署：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RV1126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开发工具学习，底层技术细节调试较难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性能优化：需要平衡多性能要求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38"/>
          <p:cNvSpPr txBox="1"/>
          <p:nvPr/>
        </p:nvSpPr>
        <p:spPr>
          <a:xfrm>
            <a:off x="6265065" y="1446502"/>
            <a:ext cx="5547158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技术创新：针对红外图像设计轻量化检测算法，对比分析多种跟踪方法适配性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应用创新：实现国产芯片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RV1126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上的完整系统部署，为边缘计算应用提供参考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Clr>
                <a:srgbClr val="903749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工程实践：解决资源受限平台上多算法模块协调运行问题，积累工程经验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  <p:bldP spid="6" grpId="0"/>
      <p:bldP spid="8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8948" y="210740"/>
            <a:ext cx="11874103" cy="643651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11348" y="363140"/>
            <a:ext cx="11874103" cy="643651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 rot="21016335">
            <a:off x="9192215" y="-471998"/>
            <a:ext cx="6930506" cy="8106794"/>
            <a:chOff x="-1071508" y="-557203"/>
            <a:chExt cx="5134589" cy="6636248"/>
          </a:xfrm>
        </p:grpSpPr>
        <p:sp>
          <p:nvSpPr>
            <p:cNvPr id="21" name="矩形 20"/>
            <p:cNvSpPr/>
            <p:nvPr/>
          </p:nvSpPr>
          <p:spPr>
            <a:xfrm rot="3506993">
              <a:off x="-1264302" y="960673"/>
              <a:ext cx="5311166" cy="4925578"/>
            </a:xfrm>
            <a:prstGeom prst="rect">
              <a:avLst/>
            </a:prstGeom>
            <a:solidFill>
              <a:schemeClr val="accent1">
                <a:alpha val="29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 rot="3506993">
              <a:off x="-1055291" y="-364409"/>
              <a:ext cx="5311166" cy="4925578"/>
            </a:xfrm>
            <a:prstGeom prst="rect">
              <a:avLst/>
            </a:prstGeom>
            <a:solidFill>
              <a:schemeClr val="accent1">
                <a:alpha val="33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94" y="58340"/>
            <a:ext cx="3048006" cy="1560579"/>
          </a:xfrm>
          <a:prstGeom prst="rect">
            <a:avLst/>
          </a:prstGeom>
        </p:spPr>
      </p:pic>
      <p:sp>
        <p:nvSpPr>
          <p:cNvPr id="41" name="等腰三角形 40"/>
          <p:cNvSpPr/>
          <p:nvPr/>
        </p:nvSpPr>
        <p:spPr>
          <a:xfrm rot="20523091">
            <a:off x="-2373705" y="3006633"/>
            <a:ext cx="5065305" cy="5324822"/>
          </a:xfrm>
          <a:prstGeom prst="triangle">
            <a:avLst/>
          </a:prstGeom>
          <a:solidFill>
            <a:srgbClr val="203864"/>
          </a:solidFill>
          <a:effectLst>
            <a:outerShdw blurRad="127000" dist="38100" dir="7500000" sx="105000" sy="105000" algn="b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08023" y="2407406"/>
            <a:ext cx="95759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49622" y="4467637"/>
            <a:ext cx="6786426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姓名：张仕卓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2022013223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指导老师：张建锋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2026/1/9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e34133e-a98a-4237-8e45-c6cfece88c29"/>
  <p:tag name="COMMONDATA" val="eyJoZGlkIjoiOGI4NjI5OTBmMDM1ODFlMDkzNDFlZTFiMWNhZWU5ZTMifQ=="/>
  <p:tag name="RESOURCE_RECORD_KEY" val="{&quot;29&quot;:[50000077]}"/>
  <p:tag name="OPCH-02206B91E57C86FF5CF8C5368DCF1445FA9404C94AF47C68102EA355AB778140" val="[{&quot;GradientColorId&quot;:&quot;&quot;,&quot;IsFree&quot;:true,&quot;IsGradient&quot;:false,&quot;ImagePath&quot;:&quot;&quot;,&quot;GradientColor&quot;:null,&quot;SimpleColor&quot;:&quot;#E7E6E6&quot;},{&quot;GradientColorId&quot;:&quot;&quot;,&quot;IsFree&quot;:true,&quot;IsGradient&quot;:false,&quot;ImagePath&quot;:&quot;&quot;,&quot;GradientColor&quot;:null,&quot;SimpleColor&quot;:&quot;#C0000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8411037541342,&quot;left&quot;:327.5,&quot;top&quot;:63.98377952755906,&quot;width&quot;:367.5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8411037541342,&quot;left&quot;:327.5,&quot;top&quot;:63.98377952755906,&quot;width&quot;:367.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8411037541342,&quot;left&quot;:327.5,&quot;top&quot;:63.98377952755906,&quot;width&quot;:367.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8411037541342,&quot;left&quot;:327.5,&quot;top&quot;:63.98377952755906,&quot;width&quot;:367.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4662204724409,&quot;left&quot;:246,&quot;top&quot;:63.98377952755906,&quot;width&quot;:449.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2075</Words>
  <Application>Microsoft Office PowerPoint</Application>
  <PresentationFormat>宽屏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等线 Light</vt:lpstr>
      <vt:lpstr>汉仪正圆-75W</vt:lpstr>
      <vt:lpstr>黑体</vt:lpstr>
      <vt:lpstr>微软雅黑</vt:lpstr>
      <vt:lpstr>Arial</vt:lpstr>
      <vt:lpstr>Arial Black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做梦的zhang ai</cp:lastModifiedBy>
  <cp:revision>195</cp:revision>
  <dcterms:created xsi:type="dcterms:W3CDTF">2023-05-20T07:20:00Z</dcterms:created>
  <dcterms:modified xsi:type="dcterms:W3CDTF">2026-01-08T14:54:35Z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6216AB1487D84BA98787D58DEE5E664C_13</vt:lpwstr>
  </property>
  <property fmtid="{D5CDD505-2E9C-101B-9397-08002B2CF9AE}" pid="3" name="KSOProductBuildVer">
    <vt:lpwstr>2052-12.1.0.20784</vt:lpwstr>
  </property>
</Properties>
</file>